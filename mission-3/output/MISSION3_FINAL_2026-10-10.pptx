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7c7e5b20ae4f72" /><Relationship Type="http://schemas.openxmlformats.org/officeDocument/2006/relationships/extended-properties" Target="/docProps/app.xml" Id="R39167b78dc224f22" /><Relationship Type="http://schemas.openxmlformats.org/officeDocument/2006/relationships/officeDocument" Target="/ppt/presentation.xml" Id="Re296bddf588441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32782d8eab425d"/>
  </p:sldMasterIdLst>
  <p:notesMasterIdLst>
    <p:notesMasterId xmlns:r="http://schemas.openxmlformats.org/officeDocument/2006/relationships" r:id="R658004965ccc48bf"/>
  </p:notesMasterIdLst>
  <p:sldIdLst>
    <p:sldId xmlns:r="http://schemas.openxmlformats.org/officeDocument/2006/relationships" id="256" r:id="R0ca2027bfd5d4e86"/>
    <p:sldId xmlns:r="http://schemas.openxmlformats.org/officeDocument/2006/relationships" id="257" r:id="Rdf174a9cc0b2466d"/>
    <p:sldId xmlns:r="http://schemas.openxmlformats.org/officeDocument/2006/relationships" id="258" r:id="R7d0f77cc4c584401"/>
    <p:sldId xmlns:r="http://schemas.openxmlformats.org/officeDocument/2006/relationships" id="259" r:id="R8cfe6876a9134a73"/>
    <p:sldId xmlns:r="http://schemas.openxmlformats.org/officeDocument/2006/relationships" id="260" r:id="R2921306072464311"/>
    <p:sldId xmlns:r="http://schemas.openxmlformats.org/officeDocument/2006/relationships" id="261" r:id="R2da90790438f46eb"/>
    <p:sldId xmlns:r="http://schemas.openxmlformats.org/officeDocument/2006/relationships" id="262" r:id="R24aff9324f624db5"/>
    <p:sldId xmlns:r="http://schemas.openxmlformats.org/officeDocument/2006/relationships" id="263" r:id="Re70d8661e3fd4f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890399b5bee4d95" /><Relationship Type="http://schemas.openxmlformats.org/officeDocument/2006/relationships/slideMaster" Target="/ppt/slideMasters/slideMaster1.xml" Id="Ra132782d8eab425d" /><Relationship Type="http://schemas.openxmlformats.org/officeDocument/2006/relationships/notesMaster" Target="/ppt/notesMasters/notesMaster1.xml" Id="R658004965ccc48bf" /><Relationship Type="http://schemas.openxmlformats.org/officeDocument/2006/relationships/presProps" Target="/ppt/presProps.xml" Id="R6a0b3181526e4c29" /><Relationship Type="http://schemas.openxmlformats.org/officeDocument/2006/relationships/tableStyles" Target="/ppt/tableStyles.xml" Id="R09454e526d214ea7" /><Relationship Type="http://schemas.openxmlformats.org/officeDocument/2006/relationships/slide" Target="/ppt/slides/slide1.xml" Id="R0ca2027bfd5d4e86" /><Relationship Type="http://schemas.openxmlformats.org/officeDocument/2006/relationships/slide" Target="/ppt/slides/slide2.xml" Id="Rdf174a9cc0b2466d" /><Relationship Type="http://schemas.openxmlformats.org/officeDocument/2006/relationships/slide" Target="/ppt/slides/slide3.xml" Id="R7d0f77cc4c584401" /><Relationship Type="http://schemas.openxmlformats.org/officeDocument/2006/relationships/slide" Target="/ppt/slides/slide4.xml" Id="R8cfe6876a9134a73" /><Relationship Type="http://schemas.openxmlformats.org/officeDocument/2006/relationships/slide" Target="/ppt/slides/slide5.xml" Id="R2921306072464311" /><Relationship Type="http://schemas.openxmlformats.org/officeDocument/2006/relationships/slide" Target="/ppt/slides/slide6.xml" Id="R2da90790438f46eb" /><Relationship Type="http://schemas.openxmlformats.org/officeDocument/2006/relationships/slide" Target="/ppt/slides/slide7.xml" Id="R24aff9324f624db5" /><Relationship Type="http://schemas.openxmlformats.org/officeDocument/2006/relationships/slide" Target="/ppt/slides/slide8.xml" Id="Re70d8661e3fd4f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f96e02231f4c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a44f095ea94da3" /><Relationship Type="http://schemas.openxmlformats.org/officeDocument/2006/relationships/notesMaster" Target="/ppt/notesMasters/notesMaster1.xml" Id="Raee7c78e701c47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62d3a43256466e" /><Relationship Type="http://schemas.openxmlformats.org/officeDocument/2006/relationships/notesMaster" Target="/ppt/notesMasters/notesMaster1.xml" Id="R333f970234ef42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b4d58dcb3c4baa" /><Relationship Type="http://schemas.openxmlformats.org/officeDocument/2006/relationships/notesMaster" Target="/ppt/notesMasters/notesMaster1.xml" Id="R0752d30706d5417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2e44762b8c54e01" /><Relationship Type="http://schemas.openxmlformats.org/officeDocument/2006/relationships/notesMaster" Target="/ppt/notesMasters/notesMaster1.xml" Id="R849fee958bc545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5169772900476b" /><Relationship Type="http://schemas.openxmlformats.org/officeDocument/2006/relationships/notesMaster" Target="/ppt/notesMasters/notesMaster1.xml" Id="R3b2d62bb455c4b6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057853ca3db444c" /><Relationship Type="http://schemas.openxmlformats.org/officeDocument/2006/relationships/notesMaster" Target="/ppt/notesMasters/notesMaster1.xml" Id="Rdfc309fe268341d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16bd81dea72440f" /><Relationship Type="http://schemas.openxmlformats.org/officeDocument/2006/relationships/notesMaster" Target="/ppt/notesMasters/notesMaster1.xml" Id="R5e409c68121848c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d83d043a9fb4220" /><Relationship Type="http://schemas.openxmlformats.org/officeDocument/2006/relationships/notesMaster" Target="/ppt/notesMasters/notesMaster1.xml" Id="R071435fb45984c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M3_Final_2-5_Retrain_OfficialValidation_WITH_LOGS.ipynb의 공식 Validation 평가 출력 및 m3_final_results.tar의 evaluation/summary.csv. 비공개 Test 성능은 포함하지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mission3_train_json.zip 및 mission3_validation_json.zip의 재학습 실행 기록. 학습 분할은 Training에서만 생성. 모델은 전사 텍스트만 입력으로 사용.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m3_final_code.tar의 final_run.py 및 ensemble.json. 결합 비율은 내부 개발에서 선택해 동결했고 공식 Validation 점수로 조정하지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mission-3/results/fixed_ensemble_2026-10-08, context_blend_2026-10-09, 사용자 제공 2-10 결과 TAR. 점수는 내부 검증으로 공식 Validation과 구분.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m3_final_results.tar의 evaluation/summary.csv. 공식 Validation Macro F1 0.6476169916432544. 비공개 Test 결과는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m3_final_results.tar의 evaluation/official_validation/per_label.csv. 수치는 공식 Validation 3,640건의 증상별 F1.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m3_final_results.tar의 evaluation/official_validation/per_label.csv. 활용 문장은 제안이며 실제 운영 효과 검증 결과가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출제문제 PDF 11–12쪽, VERIFICATION.json. 새 가상환경에서 5개 구성 모델을 복원해 정답을 제거한 실제 Validation 7건 및 빈 전사·긴 전사 2건을 단일 CLI로 처리했다. 제공된 PDF의 파일명·증상 목록 구조를 검수했다. 주최 측 실행형 채점기는 제공되지 않았고 비공개 Test 점수를 주장하지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74c3422f6b481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2626abecfa48e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7d1265dde5465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bf666c805345e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9f4f6e25c24ed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8fc92346e24d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089F10F-C67C-4D48-A90C-7C7B8887A2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8F03243-6EB9-4FBF-A265-B7B0DBE0094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F44DFD2-B050-47A3-80BF-73E8CA7F04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D5D2922-DC4B-43EA-B7D8-DAB767D9F3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807E896-6475-4D5F-A598-01EAEB8B68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041F3FE-8FC8-46A3-BAFF-83BCED92E8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F19F8FC-5377-462A-871C-4C09AF22534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9F6C9EA-0A97-4F73-AB3C-CCE312B00B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DD4034F-2B2A-4671-A8D7-EA2A66724A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9C06974-59D5-47C6-BDAF-431A0840E02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3284c963914d80" /><Relationship Type="http://schemas.openxmlformats.org/officeDocument/2006/relationships/slideLayout" Target="/ppt/slideLayouts/slideLayout1.xml" Id="R6e555811caf04bf1" /><Relationship Type="http://schemas.openxmlformats.org/officeDocument/2006/relationships/slideLayout" Target="/ppt/slideLayouts/slideLayout2.xml" Id="R185399c57f1d4d4a" /><Relationship Type="http://schemas.openxmlformats.org/officeDocument/2006/relationships/slideLayout" Target="/ppt/slideLayouts/slideLayout3.xml" Id="Rcc003904d0024e3f" /><Relationship Type="http://schemas.openxmlformats.org/officeDocument/2006/relationships/slideLayout" Target="/ppt/slideLayouts/slideLayout4.xml" Id="R1d042c89f09f4736" /><Relationship Type="http://schemas.openxmlformats.org/officeDocument/2006/relationships/slideLayout" Target="/ppt/slideLayouts/slideLayout5.xml" Id="R29497415a80445a4" /><Relationship Type="http://schemas.openxmlformats.org/officeDocument/2006/relationships/slideLayout" Target="/ppt/slideLayouts/slideLayout6.xml" Id="Rcfb3509ca9234f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555811caf04bf1"/>
    <p:sldLayoutId xmlns:r="http://schemas.openxmlformats.org/officeDocument/2006/relationships" id="2147483650" r:id="R185399c57f1d4d4a"/>
    <p:sldLayoutId xmlns:r="http://schemas.openxmlformats.org/officeDocument/2006/relationships" id="2147483651" r:id="Rcc003904d0024e3f"/>
    <p:sldLayoutId xmlns:r="http://schemas.openxmlformats.org/officeDocument/2006/relationships" id="2147483652" r:id="R1d042c89f09f4736"/>
    <p:sldLayoutId xmlns:r="http://schemas.openxmlformats.org/officeDocument/2006/relationships" id="2147483653" r:id="R29497415a80445a4"/>
    <p:sldLayoutId xmlns:r="http://schemas.openxmlformats.org/officeDocument/2006/relationships" id="2147483654" r:id="Rcfb3509ca9234f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2e414dd8a04f82" /><Relationship Type="http://schemas.openxmlformats.org/officeDocument/2006/relationships/notesSlide" Target="/ppt/notesSlides/notesSlide1.xml" Id="R647e309b43f440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43e007eee34e58" /><Relationship Type="http://schemas.openxmlformats.org/officeDocument/2006/relationships/notesSlide" Target="/ppt/notesSlides/notesSlide2.xml" Id="Rfaaebfe886244f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5e45e538b14975" /><Relationship Type="http://schemas.openxmlformats.org/officeDocument/2006/relationships/notesSlide" Target="/ppt/notesSlides/notesSlide3.xml" Id="R061995257e0844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008d17ae1e446c" /><Relationship Type="http://schemas.openxmlformats.org/officeDocument/2006/relationships/notesSlide" Target="/ppt/notesSlides/notesSlide4.xml" Id="R60491894128343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e6c7dc4b03447d" /><Relationship Type="http://schemas.openxmlformats.org/officeDocument/2006/relationships/notesSlide" Target="/ppt/notesSlides/notesSlide5.xml" Id="R8afffaaf282747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75e302d03f4eee" /><Relationship Type="http://schemas.openxmlformats.org/officeDocument/2006/relationships/chart" Target="/ppt/slides/charts/chart1.xml" Id="R6bbc4a17f4a74164" /><Relationship Type="http://schemas.openxmlformats.org/officeDocument/2006/relationships/notesSlide" Target="/ppt/notesSlides/notesSlide6.xml" Id="R9cc5b53f1bbd40d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d29ad92fca4c7a" /><Relationship Type="http://schemas.openxmlformats.org/officeDocument/2006/relationships/notesSlide" Target="/ppt/notesSlides/notesSlide7.xml" Id="Ra5f4d7d9616d47f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c55083abde4ad2" /><Relationship Type="http://schemas.openxmlformats.org/officeDocument/2006/relationships/notesSlide" Target="/ppt/notesSlides/notesSlide8.xml" Id="R362dad46109b44b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공식 Validation F1</c:v>
          </c:tx>
          <c:spPr>
            <a:solidFill xmlns:a="http://schemas.openxmlformats.org/drawingml/2006/main">
              <a:srgbClr val="138A8A"/>
            </a:solidFill>
          </c:spPr>
          <c:cat>
            <c:strRef>
              <c:f>'Chart Data'!$A$2:$A$10</c:f>
              <c:strCache>
                <c:ptCount val="9"/>
                <c:pt idx="0">
                  <c:v>고열</c:v>
                </c:pt>
                <c:pt idx="1">
                  <c:v>구토</c:v>
                </c:pt>
                <c:pt idx="2">
                  <c:v>두통</c:v>
                </c:pt>
                <c:pt idx="3">
                  <c:v>복통</c:v>
                </c:pt>
                <c:pt idx="4">
                  <c:v>어지러움</c:v>
                </c:pt>
                <c:pt idx="5">
                  <c:v>열상</c:v>
                </c:pt>
                <c:pt idx="6">
                  <c:v>오심</c:v>
                </c:pt>
                <c:pt idx="7">
                  <c:v>전신쇠약</c:v>
                </c:pt>
                <c:pt idx="8">
                  <c:v>호흡곤란</c:v>
                </c:pt>
              </c:strCache>
            </c:strRef>
          </c:cat>
          <c:val>
            <c:numRef>
              <c:f>'Chart Data'!$B$2:$B$10</c:f>
              <c:numCache>
                <c:formatCode>General</c:formatCode>
                <c:ptCount val="9"/>
                <c:pt idx="0">
                  <c:v>0.690209</c:v>
                </c:pt>
                <c:pt idx="1">
                  <c:v>0.597748</c:v>
                </c:pt>
                <c:pt idx="2">
                  <c:v>0.523207</c:v>
                </c:pt>
                <c:pt idx="3">
                  <c:v>0.82859</c:v>
                </c:pt>
                <c:pt idx="4">
                  <c:v>0.663636</c:v>
                </c:pt>
                <c:pt idx="5">
                  <c:v>0.897959</c:v>
                </c:pt>
                <c:pt idx="6">
                  <c:v>0.38964</c:v>
                </c:pt>
                <c:pt idx="7">
                  <c:v>0.572254</c:v>
                </c:pt>
                <c:pt idx="8">
                  <c:v>0.66531</c:v>
                </c:pt>
              </c:numCache>
            </c:numRef>
          </c:val>
        </c:ser>
        <c:dLbls>
          <c:numFmt formatCode="0.0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3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CC674F-E87A-4CF5-B81B-DEC09F0E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A9D9DC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A9D9DC"/>
                </a:solidFill>
              </a:defRPr>
            </a:pPr>
            <a:r>
              <a:rPr sz="1650" b="1">
                <a:solidFill>
                  <a:srgbClr val="A9D9DC"/>
                </a:solidFill>
              </a:rPr>
              <a:t>MISSION 3 · 응급 신고 대화의 증상 분류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F0C4F6-2952-4A3B-984E-333BCCA3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105727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9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4950" b="1">
                <a:solidFill>
                  <a:srgbClr val="FFFFFF"/>
                </a:solidFill>
              </a:defRPr>
            </a:pPr>
            <a:r>
              <a:rPr sz="4950" b="1">
                <a:solidFill>
                  <a:srgbClr val="FFFFFF"/>
                </a:solidFill>
              </a:rPr>
              <a:t>전사 텍스트에서</a:t>
            </a:r>
          </a:p>
          <a:p xmlns:a="http://schemas.openxmlformats.org/drawingml/2006/main">
            <a:pPr algn="l">
              <a:defRPr sz="4950" b="1">
                <a:solidFill>
                  <a:srgbClr val="FFFFFF"/>
                </a:solidFill>
              </a:defRPr>
            </a:pPr>
            <a:r>
              <a:rPr sz="4950" b="1">
                <a:solidFill>
                  <a:srgbClr val="FFFFFF"/>
                </a:solidFill>
              </a:rPr>
              <a:t>9개 증상을 찾다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957DB9-CA55-4412-A152-A3BDEAED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52875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0">
                <a:solidFill>
                  <a:srgbClr val="D7E1EA"/>
                </a:solidFill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D7E1EA"/>
                </a:solidFill>
              </a:defRPr>
            </a:pPr>
            <a:r>
              <a:rPr sz="2100" b="0">
                <a:solidFill>
                  <a:srgbClr val="D7E1EA"/>
                </a:solidFill>
              </a:rPr>
              <a:t>고정 2-5 재학습 · 공식 Validation 3,640건 평가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ACBE1E-F79C-47CE-BA61-75923ED1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704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8CD3CC"/>
                </a:solidFill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8CD3CC"/>
                </a:solidFill>
              </a:defRPr>
            </a:pPr>
            <a:r>
              <a:rPr sz="3150" b="1">
                <a:solidFill>
                  <a:srgbClr val="8CD3CC"/>
                </a:solidFill>
              </a:rPr>
              <a:t>Macro F1  0.647617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56BBFC-4D97-4A1F-A936-9E909DDB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내부 검증 0.649686  |  임계값 0.5 고정</a:t>
            </a:r>
          </a:p>
        </p:txBody>
      </p:sp>
    </p:spTree>
    <p:extLst>
      <p:ext uri="{BB962C8B-B14F-4D97-AF65-F5344CB8AC3E}">
        <p14:creationId xmlns:p14="http://schemas.microsoft.com/office/powerpoint/2010/main" val="20074659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B9DB3D-FB87-447E-B6A5-FD9BDE00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2233F"/>
                </a:solidFill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233F"/>
                </a:solidFill>
              </a:defRPr>
            </a:pPr>
            <a:r>
              <a:rPr sz="3150" b="1">
                <a:solidFill>
                  <a:srgbClr val="12233F"/>
                </a:solidFill>
              </a:rPr>
              <a:t>문제와 평가 데이터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A4880D-E285-42F7-BF84-11C43047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00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A3645C-5DC1-4B36-8D6C-053FB5C9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52627A"/>
                </a:solidFill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2627A"/>
                </a:solidFill>
              </a:defRPr>
            </a:pPr>
            <a:r>
              <a:rPr sz="1125" b="0">
                <a:solidFill>
                  <a:srgbClr val="52627A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737F67-9CC2-4D48-A5F7-BBBA2A86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8A8A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38A8A"/>
                </a:solidFill>
              </a:defRPr>
            </a:pPr>
            <a:r>
              <a:rPr sz="1575" b="1">
                <a:solidFill>
                  <a:srgbClr val="138A8A"/>
                </a:solidFill>
              </a:rPr>
              <a:t>입력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70565C-57E4-48E4-89B5-79DD3D72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572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2233F"/>
                </a:solidFill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2233F"/>
                </a:solidFill>
              </a:defRPr>
            </a:pPr>
            <a:r>
              <a:rPr sz="2175" b="1">
                <a:solidFill>
                  <a:srgbClr val="12233F"/>
                </a:solidFill>
              </a:rPr>
              <a:t>119 신고자·대원의 대화 전사</a:t>
            </a:r>
          </a:p>
          <a:p xmlns:a="http://schemas.openxmlformats.org/drawingml/2006/main">
            <a:pPr algn="l">
              <a:defRPr sz="2175" b="1">
                <a:solidFill>
                  <a:srgbClr val="12233F"/>
                </a:solidFill>
              </a:defRPr>
            </a:pPr>
            <a:r>
              <a:rPr sz="2175" b="1">
                <a:solidFill>
                  <a:srgbClr val="12233F"/>
                </a:solidFill>
              </a:rPr>
              <a:t>utterances[].text만 사용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92C460-F59A-4612-B39B-61E396081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66875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8A8A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38A8A"/>
                </a:solidFill>
              </a:defRPr>
            </a:pPr>
            <a:r>
              <a:rPr sz="1575" b="1">
                <a:solidFill>
                  <a:srgbClr val="138A8A"/>
                </a:solidFill>
              </a:rPr>
              <a:t>출력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03B01E-EAA0-4858-88DA-6A80512F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95500"/>
            <a:ext cx="4905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2233F"/>
                </a:solidFill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2233F"/>
                </a:solidFill>
              </a:defRPr>
            </a:pPr>
            <a:r>
              <a:rPr sz="2175" b="1">
                <a:solidFill>
                  <a:srgbClr val="12233F"/>
                </a:solidFill>
              </a:rPr>
              <a:t>통화당 0~9개 증상</a:t>
            </a:r>
          </a:p>
          <a:p xmlns:a="http://schemas.openxmlformats.org/drawingml/2006/main">
            <a:pPr algn="l">
              <a:defRPr sz="2175" b="1">
                <a:solidFill>
                  <a:srgbClr val="12233F"/>
                </a:solidFill>
              </a:defRPr>
            </a:pPr>
            <a:r>
              <a:rPr sz="2175" b="1">
                <a:solidFill>
                  <a:srgbClr val="12233F"/>
                </a:solidFill>
              </a:rPr>
              <a:t>증상별 독립 다중 라벨 판정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221860-D668-482C-B4AC-05FF324C6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2233F"/>
                </a:solidFill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2233F"/>
                </a:solidFill>
              </a:defRPr>
            </a:pPr>
            <a:r>
              <a:rPr sz="1875" b="0">
                <a:solidFill>
                  <a:srgbClr val="12233F"/>
                </a:solidFill>
              </a:rPr>
              <a:t>Training 29,200건  →  내부 학습 23,408건 + 내부 검증 5,792건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C86A66-E70C-40AC-9B94-D1D4C8D3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F5D96"/>
                </a:solidFill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F5D96"/>
                </a:solidFill>
              </a:defRPr>
            </a:pPr>
            <a:r>
              <a:rPr sz="1800" b="0">
                <a:solidFill>
                  <a:srgbClr val="1F5D96"/>
                </a:solidFill>
              </a:rPr>
              <a:t>공식 Validation 3,640건은 학습·가중치 계산·모델 선택에 사용하지 않음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3CBC90-D601-418C-A93B-4BA57797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673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52627A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27A"/>
                </a:solidFill>
              </a:defRPr>
            </a:pPr>
            <a:r>
              <a:rPr sz="1650" b="0">
                <a:solidFill>
                  <a:srgbClr val="52627A"/>
                </a:solidFill>
              </a:rPr>
              <a:t>WAV·speaker·recordId·주소·정답 라벨은 모델 입력에서 제외</a:t>
            </a:r>
          </a:p>
        </p:txBody>
      </p:sp>
    </p:spTree>
    <p:extLst>
      <p:ext uri="{BB962C8B-B14F-4D97-AF65-F5344CB8AC3E}">
        <p14:creationId xmlns:p14="http://schemas.microsoft.com/office/powerpoint/2010/main" val="9967240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DA86C8-C78A-4406-B23B-5174D9B84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2233F"/>
                </a:solidFill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233F"/>
                </a:solidFill>
              </a:defRPr>
            </a:pPr>
            <a:r>
              <a:rPr sz="3150" b="1">
                <a:solidFill>
                  <a:srgbClr val="12233F"/>
                </a:solidFill>
              </a:rPr>
              <a:t>문맥 모델과 문자 모델을 고정 비율로 결합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0FF2FE-E04A-4CB3-9A65-8285822A3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00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B7DBC1-0700-41EB-A6D8-F0383779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52627A"/>
                </a:solidFill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2627A"/>
                </a:solidFill>
              </a:defRPr>
            </a:pPr>
            <a:r>
              <a:rPr sz="1125" b="0">
                <a:solidFill>
                  <a:srgbClr val="52627A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BB3C32-13F0-418C-BA8D-7EA25AFC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266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12233F"/>
                </a:solidFill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12233F"/>
                </a:solidFill>
              </a:defRPr>
            </a:pPr>
            <a:r>
              <a:rPr sz="2250" b="1">
                <a:solidFill>
                  <a:srgbClr val="12233F"/>
                </a:solidFill>
              </a:rPr>
              <a:t>Base 3개</a:t>
            </a:r>
          </a:p>
          <a:p xmlns:a="http://schemas.openxmlformats.org/drawingml/2006/main">
            <a:pPr algn="ctr">
              <a:defRPr sz="2250" b="1">
                <a:solidFill>
                  <a:srgbClr val="12233F"/>
                </a:solidFill>
              </a:defRPr>
            </a:pPr>
            <a:r>
              <a:rPr sz="2250" b="1">
                <a:solidFill>
                  <a:srgbClr val="12233F"/>
                </a:solidFill>
              </a:rPr>
              <a:t>각각 2/15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1EC3EB-FE22-4938-A843-63EBF06F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14550"/>
            <a:ext cx="47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700" b="1">
                <a:solidFill>
                  <a:srgbClr val="138A8A"/>
                </a:solidFill>
              </a:defRPr>
            </a:defPPr>
          </a:lstStyle>
          <a:p xmlns:a="http://schemas.openxmlformats.org/drawingml/2006/main">
            <a:pPr algn="ctr">
              <a:defRPr sz="2700" b="1">
                <a:solidFill>
                  <a:srgbClr val="138A8A"/>
                </a:solidFill>
              </a:defRPr>
            </a:pPr>
            <a:r>
              <a:rPr sz="2700" b="1">
                <a:solidFill>
                  <a:srgbClr val="138A8A"/>
                </a:solidFill>
              </a:rPr>
              <a:t>+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3161CA-2A39-4A53-8AA9-1C65BD6F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9240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12233F"/>
                </a:solidFill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12233F"/>
                </a:solidFill>
              </a:defRPr>
            </a:pPr>
            <a:r>
              <a:rPr sz="2250" b="1">
                <a:solidFill>
                  <a:srgbClr val="12233F"/>
                </a:solidFill>
              </a:rPr>
              <a:t>RoBERTa Large</a:t>
            </a:r>
          </a:p>
          <a:p xmlns:a="http://schemas.openxmlformats.org/drawingml/2006/main">
            <a:pPr algn="ctr">
              <a:defRPr sz="2250" b="1">
                <a:solidFill>
                  <a:srgbClr val="12233F"/>
                </a:solidFill>
              </a:defRPr>
            </a:pPr>
            <a:r>
              <a:rPr sz="2250" b="1">
                <a:solidFill>
                  <a:srgbClr val="12233F"/>
                </a:solidFill>
              </a:rPr>
              <a:t>0.40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80253C-7220-4157-A97B-47E1DBDC1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14550"/>
            <a:ext cx="47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700" b="1">
                <a:solidFill>
                  <a:srgbClr val="138A8A"/>
                </a:solidFill>
              </a:defRPr>
            </a:defPPr>
          </a:lstStyle>
          <a:p xmlns:a="http://schemas.openxmlformats.org/drawingml/2006/main">
            <a:pPr algn="ctr">
              <a:defRPr sz="2700" b="1">
                <a:solidFill>
                  <a:srgbClr val="138A8A"/>
                </a:solidFill>
              </a:defRPr>
            </a:pPr>
            <a:r>
              <a:rPr sz="2700" b="1">
                <a:solidFill>
                  <a:srgbClr val="138A8A"/>
                </a:solidFill>
              </a:rPr>
              <a:t>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E7310F-872E-4FCD-BB1F-C28AA0C78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2405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12233F"/>
                </a:solidFill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12233F"/>
                </a:solidFill>
              </a:defRPr>
            </a:pPr>
            <a:r>
              <a:rPr sz="2250" b="1">
                <a:solidFill>
                  <a:srgbClr val="12233F"/>
                </a:solidFill>
              </a:rPr>
              <a:t>가중 문자 TF-IDF</a:t>
            </a:r>
          </a:p>
          <a:p xmlns:a="http://schemas.openxmlformats.org/drawingml/2006/main">
            <a:pPr algn="ctr">
              <a:defRPr sz="2250" b="1">
                <a:solidFill>
                  <a:srgbClr val="12233F"/>
                </a:solidFill>
              </a:defRPr>
            </a:pPr>
            <a:r>
              <a:rPr sz="2250" b="1">
                <a:solidFill>
                  <a:srgbClr val="12233F"/>
                </a:solidFill>
              </a:rPr>
              <a:t>0.20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A52649-E8C1-42B9-98C1-F3F65A87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67125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2233F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2233F"/>
                </a:solidFill>
              </a:defRPr>
            </a:pPr>
            <a:r>
              <a:rPr sz="1650" b="0">
                <a:solidFill>
                  <a:srgbClr val="12233F"/>
                </a:solidFill>
              </a:rPr>
              <a:t>RoBERTa: 발화 경계 보존 · 앞 최대 512 토큰 · 증상별 Attention head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5E54DA-D3A9-4374-A989-232625F3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2233F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2233F"/>
                </a:solidFill>
              </a:defRPr>
            </a:pPr>
            <a:r>
              <a:rPr sz="1650" b="0">
                <a:solidFill>
                  <a:srgbClr val="12233F"/>
                </a:solidFill>
              </a:rPr>
              <a:t>TF-IDF: 전체 전사 문자 2~5그램 · 증상별 Logistic Regression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0C79F1-1A0C-4B4E-93AC-ACF6BC99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F5D96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F5D96"/>
                </a:solidFill>
              </a:defRPr>
            </a:pPr>
            <a:r>
              <a:rPr sz="1875" b="1">
                <a:solidFill>
                  <a:srgbClr val="1F5D96"/>
                </a:solidFill>
              </a:rPr>
              <a:t>최종 확률이 0.5 이상이면 해당 증상 출력</a:t>
            </a:r>
          </a:p>
        </p:txBody>
      </p:sp>
    </p:spTree>
    <p:extLst>
      <p:ext uri="{BB962C8B-B14F-4D97-AF65-F5344CB8AC3E}">
        <p14:creationId xmlns:p14="http://schemas.microsoft.com/office/powerpoint/2010/main" val="10696358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643B5E-EDB8-41BF-A890-79888E27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2233F"/>
                </a:solidFill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233F"/>
                </a:solidFill>
              </a:defRPr>
            </a:pPr>
            <a:r>
              <a:rPr sz="3150" b="1">
                <a:solidFill>
                  <a:srgbClr val="12233F"/>
                </a:solidFill>
              </a:rPr>
              <a:t>실험 결과에 따라 복잡한 모델 추가를 보류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F188C1-4BF7-4FFC-B8EC-7F9F3BA5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00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15E632-2FF4-4876-B072-29F7EC11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52627A"/>
                </a:solidFill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2627A"/>
                </a:solidFill>
              </a:defRPr>
            </a:pPr>
            <a:r>
              <a:rPr sz="1125" b="0">
                <a:solidFill>
                  <a:srgbClr val="52627A"/>
                </a:solidFill>
              </a:rPr>
              <a:t>04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D86D8C-6BFC-46F7-8EA8-257B97E2CC89}"/>
              </a:ext>
            </a:extLst>
          </p:cNvPr>
          <p:cNvGraphicFramePr/>
          <p:nvPr/>
        </p:nvGraphicFramePr>
        <p:xfrm>
          <a:off xmlns:a="http://schemas.openxmlformats.org/drawingml/2006/main" x="762000" y="1714500"/>
          <a:ext xmlns:a="http://schemas.openxmlformats.org/drawingml/2006/main" cx="10572750" cy="3429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524250"/>
                <a:gridCol w="3524250"/>
                <a:gridCol w="3524250"/>
              </a:tblGrid>
              <a:tr h="571500">
                <a:tc>
                  <a:txBody>
                    <a:bodyPr/>
                    <a:lstStyle/>
                    <a:p>
                      <a:r>
                        <a:t>비교한 설정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내부 검증 Macro F1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판단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Base W1 3 seed 평균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0.645129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앙상블 기반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Base + Large 50:50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0.647423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결합 기반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2-5 + 가중 TF-IDF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0.650944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과거 개발 최고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2-8 문맥 모델 추가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0.650801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채택 안 함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2-10 R-Drop 추가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0.650640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채택 안 함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004A2C-23D1-46B3-BF1C-BC65B34A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5307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52627A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27A"/>
                </a:solidFill>
              </a:defRPr>
            </a:pPr>
            <a:r>
              <a:rPr sz="1650" b="0">
                <a:solidFill>
                  <a:srgbClr val="52627A"/>
                </a:solidFill>
              </a:rPr>
              <a:t>기준은 모델 크기나 최신성이 아니라, 사전에 정한 결합의 검증 결과</a:t>
            </a:r>
          </a:p>
        </p:txBody>
      </p:sp>
    </p:spTree>
    <p:extLst>
      <p:ext uri="{BB962C8B-B14F-4D97-AF65-F5344CB8AC3E}">
        <p14:creationId xmlns:p14="http://schemas.microsoft.com/office/powerpoint/2010/main" val="19447695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3737C5-2713-4CAB-BBEC-F57F4AE9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2233F"/>
                </a:solidFill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233F"/>
                </a:solidFill>
              </a:defRPr>
            </a:pPr>
            <a:r>
              <a:rPr sz="3150" b="1">
                <a:solidFill>
                  <a:srgbClr val="12233F"/>
                </a:solidFill>
              </a:rPr>
              <a:t>재학습 점수는 과거 개발 최고와 구분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63B01E-3941-44B9-95B2-042004CA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00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A674C2-A8F4-48DF-A53F-1E6A7483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52627A"/>
                </a:solidFill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2627A"/>
                </a:solidFill>
              </a:defRPr>
            </a:pPr>
            <a:r>
              <a:rPr sz="1125" b="0">
                <a:solidFill>
                  <a:srgbClr val="52627A"/>
                </a:solidFill>
              </a:rPr>
              <a:t>05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C2371A-1015-424D-958E-68165C8D194C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10572750" cy="2476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643188"/>
                <a:gridCol w="2643188"/>
                <a:gridCol w="2643188"/>
                <a:gridCol w="2643188"/>
              </a:tblGrid>
              <a:tr h="619125">
                <a:tc>
                  <a:txBody>
                    <a:bodyPr/>
                    <a:lstStyle/>
                    <a:p>
                      <a:r>
                        <a:t>평가 세트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건수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Macro F1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판정 임계값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t>과거 개발 최고 내부 검증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5,792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0.650944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0.5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t>이번 재학습 내부 검증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5,792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0.649686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0.5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t>이번 공식 Validation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3,640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0.647617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0.5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D0A3A2-41A9-44A4-80F9-1E19794F1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F5D96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F5D96"/>
                </a:solidFill>
              </a:defRPr>
            </a:pPr>
            <a:r>
              <a:rPr sz="1800" b="1">
                <a:solidFill>
                  <a:srgbClr val="1F5D96"/>
                </a:solidFill>
              </a:rPr>
              <a:t>공식 Validation 결과에 따라 threshold·가중치·결합 비율을 사후 조정하지 않음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676866-0DA4-455F-A44E-641A085A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7215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2627A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2627A"/>
                </a:solidFill>
              </a:defRPr>
            </a:pPr>
            <a:r>
              <a:rPr sz="1425" b="0">
                <a:solidFill>
                  <a:srgbClr val="52627A"/>
                </a:solidFill>
              </a:rPr>
              <a:t>Macro F1은 9개 증상별 F1의 평균이며 Accuracy가 아님</a:t>
            </a:r>
          </a:p>
        </p:txBody>
      </p:sp>
    </p:spTree>
    <p:extLst>
      <p:ext uri="{BB962C8B-B14F-4D97-AF65-F5344CB8AC3E}">
        <p14:creationId xmlns:p14="http://schemas.microsoft.com/office/powerpoint/2010/main" val="7674349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DF7E6E-291A-4150-8517-14781E51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2233F"/>
                </a:solidFill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233F"/>
                </a:solidFill>
              </a:defRPr>
            </a:pPr>
            <a:r>
              <a:rPr sz="3150" b="1">
                <a:solidFill>
                  <a:srgbClr val="12233F"/>
                </a:solidFill>
              </a:rPr>
              <a:t>증상별 성능 차이가 남아 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D241F1-923B-409D-B840-79B620A3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00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38B60B-F128-43DB-AEF4-FE2C494F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52627A"/>
                </a:solidFill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2627A"/>
                </a:solidFill>
              </a:defRPr>
            </a:pPr>
            <a:r>
              <a:rPr sz="1125" b="0">
                <a:solidFill>
                  <a:srgbClr val="52627A"/>
                </a:solidFill>
              </a:rPr>
              <a:t>06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D1B10B71-1715-4416-A146-804A85FBE348}"/>
              </a:ext>
            </a:extLst>
          </p:cNvPr>
          <p:cNvGraphicFramePr/>
          <p:nvPr/>
        </p:nvGraphicFramePr>
        <p:xfrm>
          <a:off xmlns:a="http://schemas.openxmlformats.org/drawingml/2006/main" x="742950" y="1676400"/>
          <a:ext xmlns:a="http://schemas.openxmlformats.org/drawingml/2006/main" cx="10668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bbc4a17f4a74164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4C68C0-BEB9-48FB-B7B1-3D106E32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483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F5D96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F5D96"/>
                </a:solidFill>
              </a:defRPr>
            </a:pPr>
            <a:r>
              <a:rPr sz="1575" b="1">
                <a:solidFill>
                  <a:srgbClr val="1F5D96"/>
                </a:solidFill>
              </a:rPr>
              <a:t>오심 F1 0.3896  ·  두통 F1 0.5232  ·  열상 F1 0.8980</a:t>
            </a:r>
          </a:p>
        </p:txBody>
      </p:sp>
    </p:spTree>
    <p:extLst>
      <p:ext uri="{BB962C8B-B14F-4D97-AF65-F5344CB8AC3E}">
        <p14:creationId xmlns:p14="http://schemas.microsoft.com/office/powerpoint/2010/main" val="9850682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192F63-F875-49B0-AC6A-B3BC04077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2233F"/>
                </a:solidFill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233F"/>
                </a:solidFill>
              </a:defRPr>
            </a:pPr>
            <a:r>
              <a:rPr sz="3150" b="1">
                <a:solidFill>
                  <a:srgbClr val="12233F"/>
                </a:solidFill>
              </a:rPr>
              <a:t>오심은 누락과 오탐을 함께 봐야 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C7C220-D38C-4B15-8E48-08957C051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00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21801F-24AF-46BA-AAAF-133DE51C0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52627A"/>
                </a:solidFill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2627A"/>
                </a:solidFill>
              </a:defRPr>
            </a:pPr>
            <a:r>
              <a:rPr sz="1125" b="0">
                <a:solidFill>
                  <a:srgbClr val="52627A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3CBA91-9143-4AF8-B4A0-1673B8D7E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38A8A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38A8A"/>
                </a:solidFill>
              </a:defRPr>
            </a:pPr>
            <a:r>
              <a:rPr sz="1650" b="1">
                <a:solidFill>
                  <a:srgbClr val="138A8A"/>
                </a:solidFill>
              </a:rPr>
              <a:t>공식 Validation · 오심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2B41A9-CF72-4F89-AEFA-CFBFDFF7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2233F"/>
                </a:solidFill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2233F"/>
                </a:solidFill>
              </a:defRPr>
            </a:pPr>
            <a:r>
              <a:rPr sz="3000" b="1">
                <a:solidFill>
                  <a:srgbClr val="12233F"/>
                </a:solidFill>
              </a:rPr>
              <a:t>TP 173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E202ED-215F-46A2-8860-F94C2C6B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669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D88434"/>
                </a:solidFill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D88434"/>
                </a:solidFill>
              </a:defRPr>
            </a:pPr>
            <a:r>
              <a:rPr sz="3000" b="1">
                <a:solidFill>
                  <a:srgbClr val="D88434"/>
                </a:solidFill>
              </a:rPr>
              <a:t>FP 286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108E14-84CE-4D8F-9091-7FD9D4985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669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F5D96"/>
                </a:solidFill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F5D96"/>
                </a:solidFill>
              </a:defRPr>
            </a:pPr>
            <a:r>
              <a:rPr sz="3000" b="1">
                <a:solidFill>
                  <a:srgbClr val="1F5D96"/>
                </a:solidFill>
              </a:rPr>
              <a:t>FN 256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9E9C5C-83EE-4DED-B513-57ACCC37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2233F"/>
                </a:solidFill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2233F"/>
                </a:solidFill>
              </a:defRPr>
            </a:pPr>
            <a:r>
              <a:rPr sz="1950" b="1">
                <a:solidFill>
                  <a:srgbClr val="12233F"/>
                </a:solidFill>
              </a:rPr>
              <a:t>Precision 0.3769   Recall 0.4033   F1 0.3896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B471F0-268D-4F17-BD58-5189FD0E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2233F"/>
                </a:solidFill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33F"/>
                </a:solidFill>
              </a:defRPr>
            </a:pPr>
            <a:r>
              <a:rPr sz="1800" b="0">
                <a:solidFill>
                  <a:srgbClr val="12233F"/>
                </a:solidFill>
              </a:rPr>
              <a:t>출력에 증상이 없다고 해서 증상 부재를 확정하지 않음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822535-FA81-4ABA-9495-3EE6A768C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52627A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2627A"/>
                </a:solidFill>
              </a:defRPr>
            </a:pPr>
            <a:r>
              <a:rPr sz="1725" b="0">
                <a:solidFill>
                  <a:srgbClr val="52627A"/>
                </a:solidFill>
              </a:rPr>
              <a:t>모델은 확인할 증상 후보를 제안하고, 담당자가 전사와 환자 응답을 검토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D755B2-BC1C-4579-884A-C12BB9E0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D88434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D88434"/>
                </a:solidFill>
              </a:defRPr>
            </a:pPr>
            <a:r>
              <a:rPr sz="1425" b="0">
                <a:solidFill>
                  <a:srgbClr val="D88434"/>
                </a:solidFill>
              </a:rPr>
              <a:t>자동 진단·출동 우선순위·현장 효과는 평가하지 않음</a:t>
            </a:r>
          </a:p>
        </p:txBody>
      </p:sp>
    </p:spTree>
    <p:extLst>
      <p:ext uri="{BB962C8B-B14F-4D97-AF65-F5344CB8AC3E}">
        <p14:creationId xmlns:p14="http://schemas.microsoft.com/office/powerpoint/2010/main" val="21096050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32AA19-3A04-4DE6-8961-EE412FCE5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2233F"/>
                </a:solidFill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233F"/>
                </a:solidFill>
              </a:defRPr>
            </a:pPr>
            <a:r>
              <a:rPr sz="3150" b="1">
                <a:solidFill>
                  <a:srgbClr val="12233F"/>
                </a:solidFill>
              </a:rPr>
              <a:t>모델·코드·실행 로그를 로컬에 보관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D48822-F19D-4AFC-9B5F-CA5FD5BE8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00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D6038C-0DB7-4FC3-A719-65A9B873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52627A"/>
                </a:solidFill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2627A"/>
                </a:solidFill>
              </a:defRPr>
            </a:pPr>
            <a:r>
              <a:rPr sz="1125" b="0">
                <a:solidFill>
                  <a:srgbClr val="52627A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F79ADF-21F4-4120-A088-2346E198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8A8A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38A8A"/>
                </a:solidFill>
              </a:defRPr>
            </a:pPr>
            <a:r>
              <a:rPr sz="1575" b="1">
                <a:solidFill>
                  <a:srgbClr val="138A8A"/>
                </a:solidFill>
              </a:rPr>
              <a:t>확보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0E4061-A859-4D87-BEAB-8C395646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2233F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2233F"/>
                </a:solidFill>
              </a:defRPr>
            </a:pPr>
            <a:r>
              <a:rPr sz="1800" b="1">
                <a:solidFill>
                  <a:srgbClr val="12233F"/>
                </a:solidFill>
              </a:rPr>
              <a:t>Base 3개 · Large · TF-IDF · 평가 결과 · 코드 · 실행 로그 노트북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E24B55-1E42-46A4-ADC6-D6D06124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2627A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2627A"/>
                </a:solidFill>
              </a:defRPr>
            </a:pPr>
            <a:r>
              <a:rPr sz="1500" b="0">
                <a:solidFill>
                  <a:srgbClr val="52627A"/>
                </a:solidFill>
              </a:rPr>
              <a:t>모델·결과 TAR의 내부 SHA256 검사 통과. 원본 데이터는 별도 보관.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1957E3-0057-430D-90D9-6314C48B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957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8A8A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38A8A"/>
                </a:solidFill>
              </a:defRPr>
            </a:pPr>
            <a:r>
              <a:rPr sz="1575" b="1">
                <a:solidFill>
                  <a:srgbClr val="138A8A"/>
                </a:solidFill>
              </a:rPr>
              <a:t>제출 인터페이스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5159AE-1D1A-410D-A65E-EB408759D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5290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2233F"/>
                </a:solidFill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2233F"/>
                </a:solidFill>
              </a:defRPr>
            </a:pPr>
            <a:r>
              <a:rPr sz="1575" b="0">
                <a:solidFill>
                  <a:srgbClr val="12233F"/>
                </a:solidFill>
              </a:rPr>
              <a:t>python inference.py --audio_dir ./audio --label_dir ./json</a:t>
            </a:r>
          </a:p>
          <a:p xmlns:a="http://schemas.openxmlformats.org/drawingml/2006/main">
            <a:pPr algn="l">
              <a:defRPr sz="1575" b="0">
                <a:solidFill>
                  <a:srgbClr val="12233F"/>
                </a:solidFill>
              </a:defRPr>
            </a:pPr>
            <a:r>
              <a:rPr sz="1575" b="0">
                <a:solidFill>
                  <a:srgbClr val="12233F"/>
                </a:solidFill>
              </a:rPr>
              <a:t>--ckpt_path ./m3_final/ensemble.json --output ./outputs/mission3.csv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748AD6-DC2B-4208-9797-1BA3F492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1020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F5D96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F5D96"/>
                </a:solidFill>
              </a:defRPr>
            </a:pPr>
            <a:r>
              <a:rPr sz="1500" b="0">
                <a:solidFill>
                  <a:srgbClr val="1F5D96"/>
                </a:solidFill>
              </a:rPr>
              <a:t>새 가상환경에서 오프라인 복원 추론 통과. 실제 7건 예측 일치, 경계 입력 2건 처리.</a:t>
            </a:r>
          </a:p>
        </p:txBody>
      </p:sp>
    </p:spTree>
    <p:extLst>
      <p:ext uri="{BB962C8B-B14F-4D97-AF65-F5344CB8AC3E}">
        <p14:creationId xmlns:p14="http://schemas.microsoft.com/office/powerpoint/2010/main" val="19467487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2026-10-09T20:02:57.8610000Z</dcterms:created>
  <dcterms:modified xsi:type="dcterms:W3CDTF">2026-10-09T20:02:57.8610000Z</dcterms:modified>
</coreProperties>
</file>